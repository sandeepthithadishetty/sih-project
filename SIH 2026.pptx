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9A061-C710-462E-9AD3-DA2963C820A8}" v="10" dt="2026-09-09T08:41:12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ankeerthana Ravula" userId="44444b73e542934a" providerId="LiveId" clId="{313FAFC4-2892-4536-A620-B729F7C4E623}"/>
    <pc:docChg chg="undo custSel modSld">
      <pc:chgData name="RajaSankeerthana Ravula" userId="44444b73e542934a" providerId="LiveId" clId="{313FAFC4-2892-4536-A620-B729F7C4E623}" dt="2026-09-09T08:41:59.669" v="112" actId="20577"/>
      <pc:docMkLst>
        <pc:docMk/>
      </pc:docMkLst>
      <pc:sldChg chg="modSp mod">
        <pc:chgData name="RajaSankeerthana Ravula" userId="44444b73e542934a" providerId="LiveId" clId="{313FAFC4-2892-4536-A620-B729F7C4E623}" dt="2026-09-09T08:29:09.047" v="51" actId="6549"/>
        <pc:sldMkLst>
          <pc:docMk/>
          <pc:sldMk cId="0" sldId="281"/>
        </pc:sldMkLst>
        <pc:spChg chg="mod">
          <ac:chgData name="RajaSankeerthana Ravula" userId="44444b73e542934a" providerId="LiveId" clId="{313FAFC4-2892-4536-A620-B729F7C4E623}" dt="2026-09-09T08:24:36.782" v="22"/>
          <ac:spMkLst>
            <pc:docMk/>
            <pc:sldMk cId="0" sldId="281"/>
            <ac:spMk id="19" creationId="{7C03FFCE-D4ED-5189-E8C4-884D61CBF6EF}"/>
          </ac:spMkLst>
        </pc:spChg>
        <pc:spChg chg="mod">
          <ac:chgData name="RajaSankeerthana Ravula" userId="44444b73e542934a" providerId="LiveId" clId="{313FAFC4-2892-4536-A620-B729F7C4E623}" dt="2026-09-09T08:26:19.945" v="26" actId="14100"/>
          <ac:spMkLst>
            <pc:docMk/>
            <pc:sldMk cId="0" sldId="281"/>
            <ac:spMk id="20" creationId="{AB4AF0D5-28EC-2B18-DC30-8379D377D6B4}"/>
          </ac:spMkLst>
        </pc:spChg>
        <pc:spChg chg="mod">
          <ac:chgData name="RajaSankeerthana Ravula" userId="44444b73e542934a" providerId="LiveId" clId="{313FAFC4-2892-4536-A620-B729F7C4E623}" dt="2026-09-09T08:29:09.047" v="51" actId="6549"/>
          <ac:spMkLst>
            <pc:docMk/>
            <pc:sldMk cId="0" sldId="281"/>
            <ac:spMk id="26" creationId="{AA9CBE00-37AD-D9FD-F10B-D662CD3BDBA0}"/>
          </ac:spMkLst>
        </pc:spChg>
        <pc:spChg chg="mod">
          <ac:chgData name="RajaSankeerthana Ravula" userId="44444b73e542934a" providerId="LiveId" clId="{313FAFC4-2892-4536-A620-B729F7C4E623}" dt="2026-09-09T08:20:20.898" v="16" actId="20577"/>
          <ac:spMkLst>
            <pc:docMk/>
            <pc:sldMk cId="0" sldId="281"/>
            <ac:spMk id="15361" creationId="{00000000-0000-0000-0000-000000000000}"/>
          </ac:spMkLst>
        </pc:spChg>
      </pc:sldChg>
      <pc:sldChg chg="modSp mod">
        <pc:chgData name="RajaSankeerthana Ravula" userId="44444b73e542934a" providerId="LiveId" clId="{313FAFC4-2892-4536-A620-B729F7C4E623}" dt="2026-09-09T08:30:22.390" v="53" actId="20577"/>
        <pc:sldMkLst>
          <pc:docMk/>
          <pc:sldMk cId="0" sldId="290"/>
        </pc:sldMkLst>
        <pc:spChg chg="mod">
          <ac:chgData name="RajaSankeerthana Ravula" userId="44444b73e542934a" providerId="LiveId" clId="{313FAFC4-2892-4536-A620-B729F7C4E623}" dt="2026-09-09T08:30:22.390" v="53" actId="20577"/>
          <ac:spMkLst>
            <pc:docMk/>
            <pc:sldMk cId="0" sldId="290"/>
            <ac:spMk id="8" creationId="{96B7AFBD-5B4C-E978-7D98-6699521D8B05}"/>
          </ac:spMkLst>
        </pc:spChg>
      </pc:sldChg>
      <pc:sldChg chg="modSp mod">
        <pc:chgData name="RajaSankeerthana Ravula" userId="44444b73e542934a" providerId="LiveId" clId="{313FAFC4-2892-4536-A620-B729F7C4E623}" dt="2026-09-09T08:35:28.519" v="103" actId="255"/>
        <pc:sldMkLst>
          <pc:docMk/>
          <pc:sldMk cId="2997144140" sldId="294"/>
        </pc:sldMkLst>
        <pc:spChg chg="mod">
          <ac:chgData name="RajaSankeerthana Ravula" userId="44444b73e542934a" providerId="LiveId" clId="{313FAFC4-2892-4536-A620-B729F7C4E623}" dt="2026-09-09T08:34:58.219" v="102" actId="255"/>
          <ac:spMkLst>
            <pc:docMk/>
            <pc:sldMk cId="2997144140" sldId="294"/>
            <ac:spMk id="27" creationId="{2B6AE34C-07CE-3822-DAC2-7246B7AF866E}"/>
          </ac:spMkLst>
        </pc:spChg>
        <pc:spChg chg="mod">
          <ac:chgData name="RajaSankeerthana Ravula" userId="44444b73e542934a" providerId="LiveId" clId="{313FAFC4-2892-4536-A620-B729F7C4E623}" dt="2026-09-09T08:35:28.519" v="103" actId="255"/>
          <ac:spMkLst>
            <pc:docMk/>
            <pc:sldMk cId="2997144140" sldId="294"/>
            <ac:spMk id="28" creationId="{BAD098D8-12FF-6D96-B8FC-4733E00DE14B}"/>
          </ac:spMkLst>
        </pc:spChg>
      </pc:sldChg>
      <pc:sldChg chg="modSp mod">
        <pc:chgData name="RajaSankeerthana Ravula" userId="44444b73e542934a" providerId="LiveId" clId="{313FAFC4-2892-4536-A620-B729F7C4E623}" dt="2026-09-09T08:41:59.669" v="112" actId="20577"/>
        <pc:sldMkLst>
          <pc:docMk/>
          <pc:sldMk cId="3916788613" sldId="296"/>
        </pc:sldMkLst>
        <pc:spChg chg="mod">
          <ac:chgData name="RajaSankeerthana Ravula" userId="44444b73e542934a" providerId="LiveId" clId="{313FAFC4-2892-4536-A620-B729F7C4E623}" dt="2026-09-09T08:41:59.669" v="112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pubs/sp/800/63/A/4/final?utm_source=chatgpt.com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sseract-ocr.github.io/?utm_source=chatgpt.com" TargetMode="External"/><Relationship Id="rId5" Type="http://schemas.openxmlformats.org/officeDocument/2006/relationships/hyperlink" Target="https://www.fatf-gafi.org/en/publications/Financialinclusionandnpoissues/Digital-identity-guidance.html?utm_source=chatgpt.com" TargetMode="External"/><Relationship Id="rId4" Type="http://schemas.openxmlformats.org/officeDocument/2006/relationships/hyperlink" Target="https://pages.nist.gov/frvt/html/frvt11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926162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SIH26188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AI-Based Fake Identity &amp; Document Screening System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/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Zentrix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063837"/>
          </a:xfrm>
        </p:spPr>
        <p:txBody>
          <a:bodyPr/>
          <a:lstStyle/>
          <a:p>
            <a:pPr eaLnBrk="1" hangingPunct="1"/>
            <a:r>
              <a:rPr lang="en-IN" sz="3200" b="1" dirty="0">
                <a:latin typeface="Lucida Bright" panose="02040602050505020304" pitchFamily="18" charset="0"/>
              </a:rPr>
              <a:t>AI-Based Fake Identity &amp; Document </a:t>
            </a:r>
            <a:br>
              <a:rPr lang="en-IN" sz="3200" b="1" dirty="0">
                <a:latin typeface="Lucida Bright" panose="02040602050505020304" pitchFamily="18" charset="0"/>
              </a:rPr>
            </a:br>
            <a:r>
              <a:rPr lang="en-IN" sz="3200" b="1" dirty="0">
                <a:latin typeface="Lucida Bright" panose="02040602050505020304" pitchFamily="18" charset="0"/>
              </a:rPr>
              <a:t>Screening System</a:t>
            </a:r>
            <a:endParaRPr lang="en-US" sz="3200" b="1" dirty="0">
              <a:latin typeface="Lucida Bright" panose="020406020505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Zentrix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894197-2382-8113-94EE-EFDF29632A82}"/>
              </a:ext>
            </a:extLst>
          </p:cNvPr>
          <p:cNvCxnSpPr/>
          <p:nvPr/>
        </p:nvCxnSpPr>
        <p:spPr>
          <a:xfrm>
            <a:off x="0" y="1179576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0C6E94-901A-71C9-10AD-D1C656C037AF}"/>
              </a:ext>
            </a:extLst>
          </p:cNvPr>
          <p:cNvCxnSpPr>
            <a:cxnSpLocks/>
          </p:cNvCxnSpPr>
          <p:nvPr/>
        </p:nvCxnSpPr>
        <p:spPr>
          <a:xfrm>
            <a:off x="5788152" y="1179576"/>
            <a:ext cx="0" cy="1709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B26DAC-C76A-2B90-D2D4-2786476BE77D}"/>
              </a:ext>
            </a:extLst>
          </p:cNvPr>
          <p:cNvCxnSpPr/>
          <p:nvPr/>
        </p:nvCxnSpPr>
        <p:spPr>
          <a:xfrm>
            <a:off x="0" y="2889504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6DB638-4843-4F3F-39DB-F0784669E0A4}"/>
              </a:ext>
            </a:extLst>
          </p:cNvPr>
          <p:cNvSpPr txBox="1"/>
          <p:nvPr/>
        </p:nvSpPr>
        <p:spPr>
          <a:xfrm>
            <a:off x="10" y="1182708"/>
            <a:ext cx="5788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Problem: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03FFCE-D4ED-5189-E8C4-884D61CBF6EF}"/>
              </a:ext>
            </a:extLst>
          </p:cNvPr>
          <p:cNvSpPr txBox="1"/>
          <p:nvPr/>
        </p:nvSpPr>
        <p:spPr>
          <a:xfrm>
            <a:off x="10" y="1498403"/>
            <a:ext cx="5788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Fake, altered, and misused identity documents</a:t>
            </a:r>
            <a:r>
              <a:rPr lang="en-IN" dirty="0"/>
              <a:t> are becoming increasingly difficult to identify through </a:t>
            </a:r>
            <a:r>
              <a:rPr lang="en-IN" b="1" dirty="0"/>
              <a:t>manual verification</a:t>
            </a:r>
            <a:r>
              <a:rPr lang="en-IN" dirty="0"/>
              <a:t>. Manual checking is </a:t>
            </a:r>
            <a:r>
              <a:rPr lang="en-IN" b="1" dirty="0"/>
              <a:t>time-consuming, error-prone</a:t>
            </a:r>
            <a:r>
              <a:rPr lang="en-IN" dirty="0"/>
              <a:t>, and may fail to detect </a:t>
            </a:r>
            <a:r>
              <a:rPr lang="en-IN" b="1" dirty="0"/>
              <a:t>sophisticated document manipulation or identity misuse</a:t>
            </a:r>
            <a:r>
              <a:rPr lang="en-IN" dirty="0"/>
              <a:t>.</a:t>
            </a:r>
            <a:endParaRPr lang="en-IN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4AF0D5-28EC-2B18-DC30-8379D377D6B4}"/>
              </a:ext>
            </a:extLst>
          </p:cNvPr>
          <p:cNvSpPr txBox="1"/>
          <p:nvPr/>
        </p:nvSpPr>
        <p:spPr>
          <a:xfrm>
            <a:off x="5788147" y="1480437"/>
            <a:ext cx="6403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 </a:t>
            </a:r>
            <a:r>
              <a:rPr lang="en-IN" b="1" dirty="0"/>
              <a:t>AI-based screening system</a:t>
            </a:r>
            <a:r>
              <a:rPr lang="en-IN" dirty="0"/>
              <a:t> that performs </a:t>
            </a:r>
            <a:r>
              <a:rPr lang="en-IN" b="1" dirty="0"/>
              <a:t>multi-layer verification</a:t>
            </a:r>
            <a:r>
              <a:rPr lang="en-IN" dirty="0"/>
              <a:t> using </a:t>
            </a:r>
            <a:r>
              <a:rPr lang="en-IN" b="1" dirty="0"/>
              <a:t>OCR, document image analysis, face verification, and data consistency checks</a:t>
            </a:r>
            <a:r>
              <a:rPr lang="en-IN" dirty="0"/>
              <a:t> to identify </a:t>
            </a:r>
            <a:r>
              <a:rPr lang="en-IN" b="1" dirty="0"/>
              <a:t>suspicious documents</a:t>
            </a:r>
            <a:r>
              <a:rPr lang="en-IN" dirty="0"/>
              <a:t> and possible </a:t>
            </a:r>
            <a:r>
              <a:rPr lang="en-IN" b="1" dirty="0"/>
              <a:t>identity misuse</a:t>
            </a:r>
            <a:r>
              <a:rPr lang="en-IN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46651D-E0BA-17C4-4A82-627F3EA4B455}"/>
              </a:ext>
            </a:extLst>
          </p:cNvPr>
          <p:cNvSpPr txBox="1"/>
          <p:nvPr/>
        </p:nvSpPr>
        <p:spPr>
          <a:xfrm>
            <a:off x="5788152" y="1182708"/>
            <a:ext cx="6309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Idea: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A49AE7-7467-ABEC-4DAF-0267E024D2F5}"/>
              </a:ext>
            </a:extLst>
          </p:cNvPr>
          <p:cNvSpPr txBox="1"/>
          <p:nvPr/>
        </p:nvSpPr>
        <p:spPr>
          <a:xfrm>
            <a:off x="0" y="2900936"/>
            <a:ext cx="57881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Proposed Solution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AI-Based Document Checking:</a:t>
            </a:r>
            <a:r>
              <a:rPr lang="en-IN" dirty="0"/>
              <a:t> Uses OCR and AI to extract and verify important details from identity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Fake &amp; Tampering Detection:</a:t>
            </a:r>
            <a:r>
              <a:rPr lang="en-IN" dirty="0"/>
              <a:t> Detects edited text, changed photos, unusual patterns, and other signs of document manipulation.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Face Verification:</a:t>
            </a:r>
            <a:r>
              <a:rPr lang="en-IN" dirty="0"/>
              <a:t> Compares the face on the document with the user's face to identify possible identity misuse.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Risk Score &amp; Report:</a:t>
            </a:r>
            <a:r>
              <a:rPr lang="en-IN" dirty="0"/>
              <a:t> Combines all checks to generate a risk score and clearly explains whether the document is safe, suspicious, or high-risk. </a:t>
            </a:r>
          </a:p>
          <a:p>
            <a:endParaRPr lang="en-IN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7CA324-1705-0FB7-897F-00CC116610FD}"/>
              </a:ext>
            </a:extLst>
          </p:cNvPr>
          <p:cNvCxnSpPr>
            <a:cxnSpLocks/>
          </p:cNvCxnSpPr>
          <p:nvPr/>
        </p:nvCxnSpPr>
        <p:spPr>
          <a:xfrm>
            <a:off x="5788135" y="2900936"/>
            <a:ext cx="17" cy="35220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A9CBE00-37AD-D9FD-F10B-D662CD3BDBA0}"/>
              </a:ext>
            </a:extLst>
          </p:cNvPr>
          <p:cNvSpPr txBox="1"/>
          <p:nvPr/>
        </p:nvSpPr>
        <p:spPr>
          <a:xfrm>
            <a:off x="5788153" y="2957765"/>
            <a:ext cx="6241784" cy="346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Innovation / Uniqueness: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Multi-Level AI Verification:</a:t>
            </a:r>
            <a:r>
              <a:rPr lang="en-IN" dirty="0"/>
              <a:t> Combines OCR, document checking, face matching, and image analysis for better accuracy.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Smart Tampering Detection:</a:t>
            </a:r>
            <a:r>
              <a:rPr lang="en-IN" dirty="0"/>
              <a:t> Identifies edited text, replaced photos, and other suspicious changes in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AI-Based Risk Score:</a:t>
            </a:r>
            <a:r>
              <a:rPr lang="en-IN" dirty="0"/>
              <a:t> Combines all verification results to classify documents as </a:t>
            </a:r>
            <a:r>
              <a:rPr lang="en-IN" b="1" dirty="0"/>
              <a:t>Safe, Suspicious, or High Risk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Explainable Results:</a:t>
            </a:r>
            <a:r>
              <a:rPr lang="en-IN" dirty="0"/>
              <a:t> Clearly shows </a:t>
            </a:r>
            <a:r>
              <a:rPr lang="en-IN" b="1" dirty="0"/>
              <a:t>why</a:t>
            </a:r>
            <a:r>
              <a:rPr lang="en-IN" dirty="0"/>
              <a:t> a document or identity is flagged, helping authorized users make better decisions.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Zentrix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F68CA-7464-0F7F-5D18-06AD4A2913D3}"/>
              </a:ext>
            </a:extLst>
          </p:cNvPr>
          <p:cNvCxnSpPr/>
          <p:nvPr/>
        </p:nvCxnSpPr>
        <p:spPr>
          <a:xfrm>
            <a:off x="0" y="1095375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95B989-73DB-8057-A47A-CE6496E63AE0}"/>
              </a:ext>
            </a:extLst>
          </p:cNvPr>
          <p:cNvCxnSpPr/>
          <p:nvPr/>
        </p:nvCxnSpPr>
        <p:spPr>
          <a:xfrm>
            <a:off x="5157216" y="1095375"/>
            <a:ext cx="0" cy="5332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B7AFBD-5B4C-E978-7D98-6699521D8B05}"/>
              </a:ext>
            </a:extLst>
          </p:cNvPr>
          <p:cNvSpPr txBox="1"/>
          <p:nvPr/>
        </p:nvSpPr>
        <p:spPr>
          <a:xfrm>
            <a:off x="4" y="1111259"/>
            <a:ext cx="515720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</a:rPr>
              <a:t>Technologies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Programming:</a:t>
            </a:r>
            <a:r>
              <a:rPr lang="en-IN" sz="2000" dirty="0"/>
              <a:t> Python, JavaScript, SQL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Frontend:</a:t>
            </a:r>
            <a:r>
              <a:rPr lang="en-IN" sz="2000" dirty="0"/>
              <a:t> React.js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Backend:</a:t>
            </a:r>
            <a:r>
              <a:rPr lang="en-IN" sz="2000" dirty="0"/>
              <a:t> </a:t>
            </a:r>
            <a:r>
              <a:rPr lang="en-IN" sz="2000" dirty="0" err="1"/>
              <a:t>FastAPI</a:t>
            </a:r>
            <a:r>
              <a:rPr lang="en-IN" sz="20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AI/ML:</a:t>
            </a:r>
            <a:r>
              <a:rPr lang="en-IN" sz="2000" dirty="0"/>
              <a:t> TensorFlow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OCR:</a:t>
            </a:r>
            <a:r>
              <a:rPr lang="en-IN" sz="2000" dirty="0"/>
              <a:t> Tesseract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Image Processing:</a:t>
            </a:r>
            <a:r>
              <a:rPr lang="en-IN" sz="2000" dirty="0"/>
              <a:t> OpenCV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Face Verification:</a:t>
            </a:r>
            <a:r>
              <a:rPr lang="en-IN" sz="2000" dirty="0"/>
              <a:t> </a:t>
            </a:r>
            <a:r>
              <a:rPr lang="en-IN" sz="2000" dirty="0" err="1"/>
              <a:t>FaceNet</a:t>
            </a:r>
            <a:r>
              <a:rPr lang="en-IN" sz="20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Database:</a:t>
            </a:r>
            <a:r>
              <a:rPr lang="en-IN" sz="2000" dirty="0"/>
              <a:t> MySQL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Deployment:</a:t>
            </a:r>
            <a:r>
              <a:rPr lang="en-IN" sz="2000" dirty="0"/>
              <a:t> Docker + Cloud Platform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Hardware:</a:t>
            </a:r>
            <a:r>
              <a:rPr lang="en-IN" sz="2000" dirty="0"/>
              <a:t> Laptop/PC with camera for prototype testing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3ADEA-B4D2-7C06-DAB5-76EE4EB47D92}"/>
              </a:ext>
            </a:extLst>
          </p:cNvPr>
          <p:cNvSpPr txBox="1"/>
          <p:nvPr/>
        </p:nvSpPr>
        <p:spPr>
          <a:xfrm>
            <a:off x="5122116" y="1109569"/>
            <a:ext cx="7034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Flowchart: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B7BD77-1836-94D1-B3BC-71ACDCAAD5F3}"/>
              </a:ext>
            </a:extLst>
          </p:cNvPr>
          <p:cNvSpPr/>
          <p:nvPr/>
        </p:nvSpPr>
        <p:spPr>
          <a:xfrm>
            <a:off x="5248657" y="1600200"/>
            <a:ext cx="1893288" cy="9601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346AFB-AB4C-D8E0-0E96-A9E5FBC428A0}"/>
              </a:ext>
            </a:extLst>
          </p:cNvPr>
          <p:cNvCxnSpPr>
            <a:cxnSpLocks/>
          </p:cNvCxnSpPr>
          <p:nvPr/>
        </p:nvCxnSpPr>
        <p:spPr>
          <a:xfrm flipH="1">
            <a:off x="8858344" y="5496025"/>
            <a:ext cx="497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5AA4F42-5BDE-E30E-30FA-5C2182C430CA}"/>
              </a:ext>
            </a:extLst>
          </p:cNvPr>
          <p:cNvSpPr/>
          <p:nvPr/>
        </p:nvSpPr>
        <p:spPr>
          <a:xfrm>
            <a:off x="9506716" y="3151272"/>
            <a:ext cx="2579161" cy="11827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ED4A4B-2228-C6D6-8320-881C97C4E2CD}"/>
              </a:ext>
            </a:extLst>
          </p:cNvPr>
          <p:cNvCxnSpPr>
            <a:cxnSpLocks/>
          </p:cNvCxnSpPr>
          <p:nvPr/>
        </p:nvCxnSpPr>
        <p:spPr>
          <a:xfrm>
            <a:off x="7190068" y="2039754"/>
            <a:ext cx="295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969E473-B172-EAA9-DB03-49224E99EBB3}"/>
              </a:ext>
            </a:extLst>
          </p:cNvPr>
          <p:cNvSpPr/>
          <p:nvPr/>
        </p:nvSpPr>
        <p:spPr>
          <a:xfrm>
            <a:off x="7485480" y="1600200"/>
            <a:ext cx="2525565" cy="11589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8D38FC-1E99-14C4-4106-B7092412F126}"/>
              </a:ext>
            </a:extLst>
          </p:cNvPr>
          <p:cNvCxnSpPr>
            <a:cxnSpLocks/>
          </p:cNvCxnSpPr>
          <p:nvPr/>
        </p:nvCxnSpPr>
        <p:spPr>
          <a:xfrm>
            <a:off x="10718171" y="4402866"/>
            <a:ext cx="0" cy="488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129848D-32A8-554F-1873-A3F62AE2D0C5}"/>
              </a:ext>
            </a:extLst>
          </p:cNvPr>
          <p:cNvSpPr txBox="1"/>
          <p:nvPr/>
        </p:nvSpPr>
        <p:spPr>
          <a:xfrm>
            <a:off x="5231907" y="1630790"/>
            <a:ext cx="21899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INPUT &amp; COLLECTION</a:t>
            </a:r>
            <a:br>
              <a:rPr lang="en-IN" sz="1400" dirty="0"/>
            </a:br>
            <a:r>
              <a:rPr lang="en-IN" sz="1400" dirty="0"/>
              <a:t>Upload the </a:t>
            </a:r>
            <a:r>
              <a:rPr lang="en-IN" sz="1400" b="1" dirty="0"/>
              <a:t>identity document + selfie/live image</a:t>
            </a:r>
            <a:r>
              <a:rPr lang="en-IN" sz="1400" dirty="0"/>
              <a:t> for verification.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6A4AAB-D39D-BE99-74AA-E1405998167B}"/>
              </a:ext>
            </a:extLst>
          </p:cNvPr>
          <p:cNvSpPr txBox="1"/>
          <p:nvPr/>
        </p:nvSpPr>
        <p:spPr>
          <a:xfrm>
            <a:off x="7437357" y="1581530"/>
            <a:ext cx="27071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OCR &amp; INFORMATION EXTRACTION</a:t>
            </a:r>
            <a:br>
              <a:rPr lang="en-IN" sz="1400" dirty="0"/>
            </a:br>
            <a:r>
              <a:rPr lang="en-IN" sz="1400" dirty="0"/>
              <a:t>Extract key details such as </a:t>
            </a:r>
            <a:r>
              <a:rPr lang="en-IN" sz="1400" b="1" dirty="0"/>
              <a:t>Name, DOB, ID Number, and Expiry Date</a:t>
            </a:r>
            <a:r>
              <a:rPr lang="en-IN" sz="1400" dirty="0"/>
              <a:t> from the document.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A4DC1E-6B7D-60EB-B5A8-FFF5510B39A0}"/>
              </a:ext>
            </a:extLst>
          </p:cNvPr>
          <p:cNvSpPr txBox="1"/>
          <p:nvPr/>
        </p:nvSpPr>
        <p:spPr>
          <a:xfrm>
            <a:off x="9450564" y="3151272"/>
            <a:ext cx="27071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AI-BASED DOCUMENT ANALYSIS</a:t>
            </a:r>
            <a:br>
              <a:rPr lang="en-IN" sz="1400" dirty="0"/>
            </a:br>
            <a:r>
              <a:rPr lang="en-IN" sz="1400" dirty="0" err="1"/>
              <a:t>Analyze</a:t>
            </a:r>
            <a:r>
              <a:rPr lang="en-IN" sz="1400" dirty="0"/>
              <a:t> the document to detect </a:t>
            </a:r>
            <a:r>
              <a:rPr lang="en-IN" sz="1400" b="1" dirty="0"/>
              <a:t>tampering, altered information, photo replacement, and suspicious patterns</a:t>
            </a:r>
            <a:r>
              <a:rPr lang="en-IN" sz="1400" dirty="0"/>
              <a:t>.</a:t>
            </a:r>
            <a:endParaRPr lang="en-IN" sz="1400" u="sng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F4DDC42-F69F-1F6A-47DB-55C5ECD8129C}"/>
              </a:ext>
            </a:extLst>
          </p:cNvPr>
          <p:cNvCxnSpPr>
            <a:cxnSpLocks/>
          </p:cNvCxnSpPr>
          <p:nvPr/>
        </p:nvCxnSpPr>
        <p:spPr>
          <a:xfrm>
            <a:off x="8393229" y="2759180"/>
            <a:ext cx="1113487" cy="6698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DF8DF09-0BC3-7E6E-D41C-81CF6B4D2C71}"/>
              </a:ext>
            </a:extLst>
          </p:cNvPr>
          <p:cNvSpPr/>
          <p:nvPr/>
        </p:nvSpPr>
        <p:spPr>
          <a:xfrm>
            <a:off x="9506715" y="4904452"/>
            <a:ext cx="2579161" cy="12465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4458DC-4842-31B5-7A1F-50305240EF57}"/>
              </a:ext>
            </a:extLst>
          </p:cNvPr>
          <p:cNvSpPr txBox="1"/>
          <p:nvPr/>
        </p:nvSpPr>
        <p:spPr>
          <a:xfrm>
            <a:off x="9506716" y="4904452"/>
            <a:ext cx="2579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IDENTITY &amp; DATA VERIFICATION</a:t>
            </a:r>
            <a:br>
              <a:rPr lang="en-IN" sz="1400" dirty="0"/>
            </a:br>
            <a:r>
              <a:rPr lang="en-IN" sz="1400" dirty="0"/>
              <a:t>Match the </a:t>
            </a:r>
            <a:r>
              <a:rPr lang="en-IN" sz="1400" b="1" dirty="0"/>
              <a:t>document photo with the user's face</a:t>
            </a:r>
            <a:r>
              <a:rPr lang="en-IN" sz="1400" dirty="0"/>
              <a:t> and check the extracted information for consistency.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18682A-FBDD-82DC-D517-74D42C3056BE}"/>
              </a:ext>
            </a:extLst>
          </p:cNvPr>
          <p:cNvSpPr/>
          <p:nvPr/>
        </p:nvSpPr>
        <p:spPr>
          <a:xfrm>
            <a:off x="6362306" y="4991990"/>
            <a:ext cx="2375294" cy="11589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8C0867-46AA-801C-94FA-D204ECA17420}"/>
              </a:ext>
            </a:extLst>
          </p:cNvPr>
          <p:cNvSpPr txBox="1"/>
          <p:nvPr/>
        </p:nvSpPr>
        <p:spPr>
          <a:xfrm>
            <a:off x="6326900" y="5012111"/>
            <a:ext cx="25314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RISK ASSESSMENT &amp; REPORT</a:t>
            </a:r>
            <a:br>
              <a:rPr lang="en-IN" sz="1400" dirty="0"/>
            </a:br>
            <a:r>
              <a:rPr lang="en-IN" sz="1400" dirty="0"/>
              <a:t>Generate an </a:t>
            </a:r>
            <a:r>
              <a:rPr lang="en-IN" sz="1400" b="1" dirty="0"/>
              <a:t>AI-based risk score</a:t>
            </a:r>
            <a:r>
              <a:rPr lang="en-IN" sz="1400" dirty="0"/>
              <a:t> and provide a clear result: </a:t>
            </a:r>
            <a:r>
              <a:rPr lang="en-IN" sz="1400" b="1" dirty="0"/>
              <a:t>Verified / Review / High Risk</a:t>
            </a:r>
            <a:r>
              <a:rPr lang="en-IN" sz="1400" dirty="0"/>
              <a:t>, with reason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Zentrix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1DEA34-A9F2-0AAC-D2C9-CFBFCFFC201E}"/>
              </a:ext>
            </a:extLst>
          </p:cNvPr>
          <p:cNvCxnSpPr>
            <a:cxnSpLocks/>
          </p:cNvCxnSpPr>
          <p:nvPr/>
        </p:nvCxnSpPr>
        <p:spPr>
          <a:xfrm>
            <a:off x="0" y="10953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28B9B1-19B8-D37C-63DB-E1AFE9BA10AE}"/>
              </a:ext>
            </a:extLst>
          </p:cNvPr>
          <p:cNvCxnSpPr>
            <a:cxnSpLocks/>
            <a:stCxn id="17409" idx="2"/>
          </p:cNvCxnSpPr>
          <p:nvPr/>
        </p:nvCxnSpPr>
        <p:spPr>
          <a:xfrm>
            <a:off x="6096000" y="1095375"/>
            <a:ext cx="0" cy="5259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43D3D9-8A30-6368-DDE4-F8D5E662AABD}"/>
              </a:ext>
            </a:extLst>
          </p:cNvPr>
          <p:cNvSpPr txBox="1"/>
          <p:nvPr/>
        </p:nvSpPr>
        <p:spPr>
          <a:xfrm>
            <a:off x="0" y="1095375"/>
            <a:ext cx="6025414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tx2">
                    <a:lumMod val="75000"/>
                  </a:schemeClr>
                </a:solidFill>
              </a:rPr>
              <a:t>Analysis of the Feasibility of the Idea: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Technically Feasible:</a:t>
            </a:r>
            <a:r>
              <a:rPr lang="en-IN" dirty="0"/>
              <a:t> Uses existing AI technologies such as OCR, computer vision, and face verification.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Easy to Implement:</a:t>
            </a:r>
            <a:r>
              <a:rPr lang="en-IN" dirty="0"/>
              <a:t> Can be developed using Python, React.js, </a:t>
            </a:r>
            <a:r>
              <a:rPr lang="en-IN" dirty="0" err="1"/>
              <a:t>FastAPI</a:t>
            </a:r>
            <a:r>
              <a:rPr lang="en-IN" dirty="0"/>
              <a:t>, OpenCV, and pre-trained AI models.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Scalable:</a:t>
            </a:r>
            <a:r>
              <a:rPr lang="en-IN" dirty="0"/>
              <a:t> The system can be extended to different types of identity documents and verification environments.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Practical Impact:</a:t>
            </a:r>
            <a:r>
              <a:rPr lang="en-IN" dirty="0"/>
              <a:t> Reduces manual verification time and helps identify document fraud and impersonation. </a:t>
            </a:r>
          </a:p>
          <a:p>
            <a:r>
              <a:rPr lang="en-IN" sz="2000" b="1" u="sng" dirty="0">
                <a:solidFill>
                  <a:schemeClr val="tx2">
                    <a:lumMod val="75000"/>
                  </a:schemeClr>
                </a:solidFill>
              </a:rPr>
              <a:t>Potential Challenges &amp; Risks: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Poor Image Quality:</a:t>
            </a:r>
            <a:r>
              <a:rPr lang="en-IN" dirty="0"/>
              <a:t> Blurry, damaged, or low-light documents may reduce detection accuracy.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Advanced Forgery:</a:t>
            </a:r>
            <a:r>
              <a:rPr lang="en-IN" dirty="0"/>
              <a:t> Sophisticated edits or AI-generated documents may be difficult to detect.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Face Matching Errors:</a:t>
            </a:r>
            <a:r>
              <a:rPr lang="en-IN" dirty="0"/>
              <a:t> Different lighting, camera quality, or facial changes can affect verification.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Privacy:</a:t>
            </a:r>
            <a:r>
              <a:rPr lang="en-IN" dirty="0"/>
              <a:t> Identity documents and facial data are highly sensitive and must be handled securely.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D01C1D-6E71-19D6-7D0E-88FED8350124}"/>
              </a:ext>
            </a:extLst>
          </p:cNvPr>
          <p:cNvSpPr txBox="1"/>
          <p:nvPr/>
        </p:nvSpPr>
        <p:spPr>
          <a:xfrm>
            <a:off x="6095999" y="1193533"/>
            <a:ext cx="609599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tx2">
                    <a:lumMod val="75000"/>
                  </a:schemeClr>
                </a:solidFill>
              </a:rPr>
              <a:t>Strategies to Overcome Challenges: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Image Preprocessing:</a:t>
            </a:r>
            <a:r>
              <a:rPr lang="en-IN" sz="2000" dirty="0"/>
              <a:t> Improve document quality using OpenCV before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Multi-Level Verification:</a:t>
            </a:r>
            <a:r>
              <a:rPr lang="en-IN" sz="2000" dirty="0"/>
              <a:t> Combine OCR, tampering detection, face matching, and data consistency checks instead of relying on one method.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AI Model Improvement:</a:t>
            </a:r>
            <a:r>
              <a:rPr lang="en-IN" sz="2000" dirty="0"/>
              <a:t> Test with diverse genuine and forged documents and continuously improve the models.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Secure Data Handling:</a:t>
            </a:r>
            <a:r>
              <a:rPr lang="en-IN" sz="2000" dirty="0"/>
              <a:t> Use encryption, access control, and minimal data storage to protect user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Zentrix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253EC6-8C10-F217-60D6-B26C6E043BC2}"/>
              </a:ext>
            </a:extLst>
          </p:cNvPr>
          <p:cNvCxnSpPr>
            <a:cxnSpLocks/>
          </p:cNvCxnSpPr>
          <p:nvPr/>
        </p:nvCxnSpPr>
        <p:spPr>
          <a:xfrm>
            <a:off x="0" y="1095375"/>
            <a:ext cx="121919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6A3771-D6CE-7058-926A-ADD63AE16E09}"/>
              </a:ext>
            </a:extLst>
          </p:cNvPr>
          <p:cNvCxnSpPr>
            <a:cxnSpLocks/>
            <a:stCxn id="17409" idx="2"/>
          </p:cNvCxnSpPr>
          <p:nvPr/>
        </p:nvCxnSpPr>
        <p:spPr>
          <a:xfrm>
            <a:off x="6096000" y="1095375"/>
            <a:ext cx="0" cy="52593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8">
            <a:extLst>
              <a:ext uri="{FF2B5EF4-FFF2-40B4-BE49-F238E27FC236}">
                <a16:creationId xmlns:a16="http://schemas.microsoft.com/office/drawing/2014/main" id="{9A7479A1-8E87-BE73-8AB7-2042ABC3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6AE34C-07CE-3822-DAC2-7246B7AF866E}"/>
              </a:ext>
            </a:extLst>
          </p:cNvPr>
          <p:cNvSpPr txBox="1"/>
          <p:nvPr/>
        </p:nvSpPr>
        <p:spPr>
          <a:xfrm>
            <a:off x="0" y="1095375"/>
            <a:ext cx="602541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</a:schemeClr>
                </a:solidFill>
              </a:rPr>
              <a:t>Target Users &amp; 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Government &amp; Public Services:</a:t>
            </a:r>
            <a:r>
              <a:rPr lang="en-IN" dirty="0"/>
              <a:t>Faster preliminary identity screening and reduced fraudulent registrations.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Banks &amp; Financial </a:t>
            </a:r>
            <a:r>
              <a:rPr lang="en-IN" b="1" dirty="0" err="1"/>
              <a:t>Institutions:</a:t>
            </a:r>
            <a:r>
              <a:rPr lang="en-IN" dirty="0" err="1"/>
              <a:t>Supports</a:t>
            </a:r>
            <a:r>
              <a:rPr lang="en-IN" dirty="0"/>
              <a:t> detection of fake IDs and identity misuse during onboarding and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Educational Institutions &amp; </a:t>
            </a:r>
            <a:r>
              <a:rPr lang="en-IN" b="1" dirty="0" err="1"/>
              <a:t>Organizations:</a:t>
            </a:r>
            <a:r>
              <a:rPr lang="en-IN" dirty="0" err="1"/>
              <a:t>Supports</a:t>
            </a:r>
            <a:r>
              <a:rPr lang="en-IN" dirty="0"/>
              <a:t> identity verification during admissions and recruitment.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Digital Services &amp; </a:t>
            </a:r>
            <a:r>
              <a:rPr lang="en-IN" b="1" dirty="0" err="1"/>
              <a:t>KYC:</a:t>
            </a:r>
            <a:r>
              <a:rPr lang="en-IN" dirty="0" err="1"/>
              <a:t>Enables</a:t>
            </a:r>
            <a:r>
              <a:rPr lang="en-IN" dirty="0"/>
              <a:t> faster automated screening during identity-based onboarding.</a:t>
            </a:r>
            <a:endParaRPr lang="en-IN" b="1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b="1" u="sng" dirty="0">
                <a:solidFill>
                  <a:schemeClr val="tx2">
                    <a:lumMod val="75000"/>
                  </a:schemeClr>
                </a:solidFill>
              </a:rPr>
              <a:t>Strategic Impact: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multi-layer AI verification</a:t>
            </a:r>
            <a:r>
              <a:rPr lang="en-IN" dirty="0"/>
              <a:t> against forged documents, tampering, and identity impersonation.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Reduces dependence on </a:t>
            </a:r>
            <a:r>
              <a:rPr lang="en-IN" b="1" dirty="0"/>
              <a:t>slow and error-prone manual verification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Strengthens India's </a:t>
            </a:r>
            <a:r>
              <a:rPr lang="en-IN" b="1" dirty="0"/>
              <a:t>digital identity security</a:t>
            </a:r>
            <a:r>
              <a:rPr lang="en-IN" dirty="0"/>
              <a:t> by enabling scalable, AI-driven fraud detection.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Supports </a:t>
            </a:r>
            <a:r>
              <a:rPr lang="en-IN" b="1" dirty="0"/>
              <a:t>secure and trustworthy digital services</a:t>
            </a:r>
            <a:r>
              <a:rPr lang="en-IN" dirty="0"/>
              <a:t> across government and private sectors.</a:t>
            </a:r>
          </a:p>
          <a:p>
            <a:endParaRPr lang="en-IN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D098D8-12FF-6D96-B8FC-4733E00DE14B}"/>
              </a:ext>
            </a:extLst>
          </p:cNvPr>
          <p:cNvSpPr txBox="1"/>
          <p:nvPr/>
        </p:nvSpPr>
        <p:spPr>
          <a:xfrm>
            <a:off x="6096000" y="1174282"/>
            <a:ext cx="609599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tx2">
                    <a:lumMod val="75000"/>
                  </a:schemeClr>
                </a:solidFill>
              </a:rPr>
              <a:t>Economic &amp; Social Benefits: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Reduces verification time and operational costs</a:t>
            </a:r>
            <a:r>
              <a:rPr lang="en-IN" sz="1600" dirty="0"/>
              <a:t> through automated screening.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Helps prevent </a:t>
            </a:r>
            <a:r>
              <a:rPr lang="en-IN" sz="1600" b="1" dirty="0"/>
              <a:t>financial losses caused by identity fraud and document forgery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Protects citizens from </a:t>
            </a:r>
            <a:r>
              <a:rPr lang="en-IN" sz="1600" b="1" dirty="0"/>
              <a:t>identity theft and impersonation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Promotes </a:t>
            </a:r>
            <a:r>
              <a:rPr lang="en-IN" sz="1600" b="1" dirty="0"/>
              <a:t>paperless, faster, and scalable digital verification</a:t>
            </a:r>
            <a:r>
              <a:rPr lang="en-IN" sz="1600" dirty="0"/>
              <a:t>, contributing to a safer digital India.</a:t>
            </a:r>
          </a:p>
          <a:p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F2F35AA-4117-D880-3A00-AF91B6457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584" y="3232207"/>
            <a:ext cx="5863351" cy="30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4872" y="1059580"/>
            <a:ext cx="11775063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tx2">
                    <a:lumMod val="75000"/>
                  </a:schemeClr>
                </a:solidFill>
              </a:rPr>
              <a:t>Research &amp; Reference Work:</a:t>
            </a:r>
          </a:p>
          <a:p>
            <a:r>
              <a:rPr lang="en-IN" sz="2000" b="1" dirty="0"/>
              <a:t>1. NIST – Digital Identity Guidelines: Identity Proofing &amp; </a:t>
            </a:r>
            <a:r>
              <a:rPr lang="en-IN" sz="2000" b="1" dirty="0" err="1"/>
              <a:t>Enrollment</a:t>
            </a:r>
            <a:endParaRPr lang="en-IN" sz="2000" b="1" dirty="0"/>
          </a:p>
          <a:p>
            <a:r>
              <a:rPr lang="en-IN" sz="2000" dirty="0"/>
              <a:t>Defines how identity evidence is </a:t>
            </a:r>
            <a:r>
              <a:rPr lang="en-IN" sz="2000" b="1" dirty="0"/>
              <a:t>validated and verified</a:t>
            </a:r>
            <a:r>
              <a:rPr lang="en-IN" sz="2000" dirty="0"/>
              <a:t> to establish a person’s identity.</a:t>
            </a:r>
          </a:p>
          <a:p>
            <a:r>
              <a:rPr lang="en-IN" sz="2000" dirty="0">
                <a:hlinkClick r:id="rId3"/>
              </a:rPr>
              <a:t>NIST SP 800-63A-4</a:t>
            </a:r>
            <a:endParaRPr lang="en-IN" sz="2000" dirty="0"/>
          </a:p>
          <a:p>
            <a:r>
              <a:rPr lang="en-IN" sz="2000" b="1" dirty="0"/>
              <a:t>2. NIST – Face Recognition Technology Evaluation (FRTE):</a:t>
            </a:r>
          </a:p>
          <a:p>
            <a:r>
              <a:rPr lang="en-IN" sz="2000" dirty="0"/>
              <a:t>Evaluates face-verification systems using </a:t>
            </a:r>
            <a:r>
              <a:rPr lang="en-IN" sz="2000" b="1" dirty="0"/>
              <a:t>False Match Rate (FMR)</a:t>
            </a:r>
            <a:r>
              <a:rPr lang="en-IN" sz="2000" dirty="0"/>
              <a:t> and </a:t>
            </a:r>
            <a:r>
              <a:rPr lang="en-IN" sz="2000" b="1" dirty="0"/>
              <a:t>False Non-Match Rate (FNMR)</a:t>
            </a:r>
            <a:r>
              <a:rPr lang="en-IN" sz="2000" dirty="0"/>
              <a:t>.</a:t>
            </a:r>
          </a:p>
          <a:p>
            <a:r>
              <a:rPr lang="en-IN" sz="2000" dirty="0">
                <a:hlinkClick r:id="rId4"/>
              </a:rPr>
              <a:t>NIST Face Recognition Technology Evaluation</a:t>
            </a:r>
            <a:endParaRPr lang="en-IN" sz="2000" dirty="0"/>
          </a:p>
          <a:p>
            <a:r>
              <a:rPr lang="en-IN" sz="2000" b="1" dirty="0"/>
              <a:t>3. FATF – Guidance on Digital Identity:</a:t>
            </a:r>
          </a:p>
          <a:p>
            <a:r>
              <a:rPr lang="en-IN" sz="2000" dirty="0"/>
              <a:t>Provides guidance on </a:t>
            </a:r>
            <a:r>
              <a:rPr lang="en-IN" sz="2000" b="1" dirty="0"/>
              <a:t>reliable digital identity verification</a:t>
            </a:r>
            <a:r>
              <a:rPr lang="en-IN" sz="2000" dirty="0"/>
              <a:t>, supporting the use of multiple verification layers.</a:t>
            </a:r>
          </a:p>
          <a:p>
            <a:r>
              <a:rPr lang="en-IN" sz="2000" dirty="0">
                <a:hlinkClick r:id="rId5"/>
              </a:rPr>
              <a:t>FATF – Guidance on Digital Identity</a:t>
            </a:r>
            <a:endParaRPr lang="en-IN" sz="2000" dirty="0"/>
          </a:p>
          <a:p>
            <a:r>
              <a:rPr lang="en-IN" sz="2000" b="1" dirty="0"/>
              <a:t>4. Tesseract OCR Documentation:</a:t>
            </a:r>
          </a:p>
          <a:p>
            <a:r>
              <a:rPr lang="en-IN" sz="2000" dirty="0"/>
              <a:t>Tesseract enables </a:t>
            </a:r>
            <a:r>
              <a:rPr lang="en-IN" sz="2000" b="1" dirty="0"/>
              <a:t>automatic text extraction from identity documents</a:t>
            </a:r>
            <a:r>
              <a:rPr lang="en-IN" sz="2000" dirty="0"/>
              <a:t>, such as Name, DOB, ID Number, and Expiry Date.</a:t>
            </a:r>
          </a:p>
          <a:p>
            <a:r>
              <a:rPr lang="en-IN" sz="2000" dirty="0">
                <a:hlinkClick r:id="rId6"/>
              </a:rPr>
              <a:t>Tesseract OCR Documentation</a:t>
            </a:r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sumission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Zentrix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452D56-DB13-3FFE-3229-DF2E2CFDEBEF}"/>
              </a:ext>
            </a:extLst>
          </p:cNvPr>
          <p:cNvCxnSpPr/>
          <p:nvPr/>
        </p:nvCxnSpPr>
        <p:spPr>
          <a:xfrm flipV="1">
            <a:off x="0" y="1059580"/>
            <a:ext cx="12192000" cy="4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7709</TotalTime>
  <Words>1015</Words>
  <Application>Microsoft Office PowerPoint</Application>
  <PresentationFormat>Widescreen</PresentationFormat>
  <Paragraphs>112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Lucida Bright</vt:lpstr>
      <vt:lpstr>Times New Roman</vt:lpstr>
      <vt:lpstr>TradeGothic</vt:lpstr>
      <vt:lpstr>Office Theme</vt:lpstr>
      <vt:lpstr>SMART INDIA HACKATHON 2026</vt:lpstr>
      <vt:lpstr>AI-Based Fake Identity &amp; Document  Screening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RajaSankeerthana Ravula</cp:lastModifiedBy>
  <cp:revision>149</cp:revision>
  <dcterms:created xsi:type="dcterms:W3CDTF">2013-12-12T18:46:50Z</dcterms:created>
  <dcterms:modified xsi:type="dcterms:W3CDTF">2026-09-09T08:42:08Z</dcterms:modified>
  <cp:category/>
</cp:coreProperties>
</file>